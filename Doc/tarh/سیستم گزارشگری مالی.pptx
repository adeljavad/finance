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8" r:id="rId6"/>
    <p:sldId id="259" r:id="rId7"/>
    <p:sldId id="260" r:id="rId8"/>
    <p:sldId id="269" r:id="rId9"/>
    <p:sldId id="262" r:id="rId10"/>
    <p:sldId id="263" r:id="rId11"/>
    <p:sldId id="265" r:id="rId12"/>
    <p:sldId id="271" r:id="rId13"/>
    <p:sldId id="270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67"/>
    <a:srgbClr val="3F3F3F"/>
    <a:srgbClr val="014E7D"/>
    <a:srgbClr val="013657"/>
    <a:srgbClr val="01456F"/>
    <a:srgbClr val="014B79"/>
    <a:srgbClr val="0937C9"/>
    <a:srgbClr val="002774"/>
    <a:srgbClr val="929A4A"/>
    <a:srgbClr val="EAB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74" autoAdjust="0"/>
  </p:normalViewPr>
  <p:slideViewPr>
    <p:cSldViewPr snapToGrid="0" showGuides="1">
      <p:cViewPr varScale="1">
        <p:scale>
          <a:sx n="71" d="100"/>
          <a:sy n="71" d="100"/>
        </p:scale>
        <p:origin x="54" y="72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a-IR" dirty="0" smtClean="0">
                <a:solidFill>
                  <a:schemeClr val="bg1"/>
                </a:solidFill>
              </a:rPr>
              <a:t>ذخایر حق بیمه </a:t>
            </a:r>
            <a:endParaRPr lang="en-IN" dirty="0">
              <a:solidFill>
                <a:schemeClr val="bg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a-IR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1ED-1049-82C3-207A44D401A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1ED-1049-82C3-207A44D401A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1ED-1049-82C3-207A44D401A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1ED-1049-82C3-207A44D401A5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1ED-1049-82C3-207A44D401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11ED-1049-82C3-207A44D401A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11ED-1049-82C3-207A44D401A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11ED-1049-82C3-207A44D401A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11ED-1049-82C3-207A44D401A5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1ED-1049-82C3-207A44D401A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11ED-1049-82C3-207A44D401A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11ED-1049-82C3-207A44D401A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11ED-1049-82C3-207A44D401A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11ED-1049-82C3-207A44D401A5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11ED-1049-82C3-207A44D401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fa-I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a-I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BFC85-49E4-447A-A7E3-16153CB2FE2A}" type="datetimeFigureOut">
              <a:rPr lang="en-US" smtClean="0"/>
              <a:t>3/8/2022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072A3-100F-40A9-915F-8D2D9E6962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1B50E-4C60-4F9E-B773-52059170945B}" type="datetimeFigureOut">
              <a:rPr lang="en-US" noProof="0" smtClean="0"/>
              <a:t>3/8/2022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30CFA-805A-4FD3-B3A0-DAAA5993DA1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Title 1" title="Title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9" name="Title 1" title="Title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24A5A7-66A2-7F43-9A7A-5E13F74F8C0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Content Placeholder 3" title="Bullet Point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0" name="Content Placeholder 5" title="Bullet Point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Text Placeholder 4" title="Subtitle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 Stripe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4" name="Text Placeholder 4" title="Subtitle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20" name="Chart Placeholder 2" title="Chart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smtClean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9EF72CE-34D2-4581-98D2-89218BC1B4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7" name="Text Placeholder 4" title="Subtitle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5" name="Table Placeholder 11" title="Table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Picture Placeholder 31" title="Image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 title="Title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4" name="Shape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5" name="Shape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9" name="Shape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0" name="Shape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92047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17915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745963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4737700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6069503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00659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08403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A2D954-332B-47D0-BE9F-0F2BDE779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6131" y="1979613"/>
            <a:ext cx="9139738" cy="2898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53408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09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692" r:id="rId17"/>
    <p:sldLayoutId id="2147483697" r:id="rId18"/>
    <p:sldLayoutId id="2147483716" r:id="rId19"/>
    <p:sldLayoutId id="2147483674" r:id="rId20"/>
  </p:sldLayoutIdLst>
  <p:hf hdr="0"/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Building image">
            <a:extLst>
              <a:ext uri="{FF2B5EF4-FFF2-40B4-BE49-F238E27FC236}">
                <a16:creationId xmlns:a16="http://schemas.microsoft.com/office/drawing/2014/main" id="{257F6BCE-75BB-4ECD-BEA5-21C36A9CC0E9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0743" r="20743"/>
          <a:stretch>
            <a:fillRect/>
          </a:stretch>
        </p:blipFill>
        <p:spPr/>
      </p:pic>
      <p:sp>
        <p:nvSpPr>
          <p:cNvPr id="18" name="Hexagon 17">
            <a:extLst>
              <a:ext uri="{FF2B5EF4-FFF2-40B4-BE49-F238E27FC236}">
                <a16:creationId xmlns:a16="http://schemas.microsoft.com/office/drawing/2014/main" id="{0E6B042D-E9CB-40E0-AAE9-6AD11F53E0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6200000">
            <a:off x="2679702" y="2388914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9A1C71-347B-44A9-88B4-692D9731582D}"/>
              </a:ext>
            </a:extLst>
          </p:cNvPr>
          <p:cNvSpPr txBox="1"/>
          <p:nvPr/>
        </p:nvSpPr>
        <p:spPr>
          <a:xfrm>
            <a:off x="2955850" y="3666606"/>
            <a:ext cx="1484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Insurance Finance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5721" y="2006084"/>
            <a:ext cx="4853832" cy="964384"/>
          </a:xfrm>
        </p:spPr>
        <p:txBody>
          <a:bodyPr/>
          <a:lstStyle/>
          <a:p>
            <a:r>
              <a:rPr lang="fa-IR" dirty="0" smtClean="0"/>
              <a:t>سیستم گزارشگری مالی</a:t>
            </a:r>
            <a:endParaRPr lang="en-US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2713" y="5723994"/>
            <a:ext cx="6361611" cy="407862"/>
          </a:xfrm>
        </p:spPr>
        <p:txBody>
          <a:bodyPr/>
          <a:lstStyle/>
          <a:p>
            <a:r>
              <a:rPr lang="en-US" dirty="0" smtClean="0"/>
              <a:t>EFRS : </a:t>
            </a:r>
            <a:r>
              <a:rPr lang="en-US" dirty="0" err="1" smtClean="0"/>
              <a:t>Eit</a:t>
            </a:r>
            <a:r>
              <a:rPr lang="en-US" dirty="0" smtClean="0"/>
              <a:t> Financial Reporting System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617" y="4635499"/>
            <a:ext cx="5115366" cy="9336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912" y="2222500"/>
            <a:ext cx="2184709" cy="234608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 txBox="1">
            <a:spLocks/>
          </p:cNvSpPr>
          <p:nvPr/>
        </p:nvSpPr>
        <p:spPr>
          <a:xfrm>
            <a:off x="3291840" y="6176838"/>
            <a:ext cx="8447317" cy="407862"/>
          </a:xfrm>
          <a:prstGeom prst="rect">
            <a:avLst/>
          </a:prstGeom>
        </p:spPr>
        <p:txBody>
          <a:bodyPr/>
          <a:lstStyle>
            <a:lvl1pPr marL="0" indent="0" algn="l" defTabSz="914400" rtl="1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2400" b="0" i="0" kern="1200" spc="3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IF</a:t>
            </a:r>
            <a:r>
              <a:rPr lang="nn-NO" dirty="0" smtClean="0"/>
              <a:t>RS : international Financial Reporting Standards</a:t>
            </a:r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Building image">
            <a:extLst>
              <a:ext uri="{FF2B5EF4-FFF2-40B4-BE49-F238E27FC236}">
                <a16:creationId xmlns:a16="http://schemas.microsoft.com/office/drawing/2014/main" id="{2D599535-C841-457B-BE92-EECA801ED76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810" r="20810"/>
          <a:stretch>
            <a:fillRect/>
          </a:stretch>
        </p:blipFill>
        <p:spPr/>
      </p:pic>
      <p:sp>
        <p:nvSpPr>
          <p:cNvPr id="10" name="Hexagon 9">
            <a:extLst>
              <a:ext uri="{FF2B5EF4-FFF2-40B4-BE49-F238E27FC236}">
                <a16:creationId xmlns:a16="http://schemas.microsoft.com/office/drawing/2014/main" id="{84367257-921F-4C31-9DD7-8B0616248F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6200000">
            <a:off x="2679702" y="2388914"/>
            <a:ext cx="2412998" cy="2080172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 descr="Company initials and name grouped block">
            <a:extLst>
              <a:ext uri="{FF2B5EF4-FFF2-40B4-BE49-F238E27FC236}">
                <a16:creationId xmlns:a16="http://schemas.microsoft.com/office/drawing/2014/main" id="{91C1EA1C-1F3E-4109-905A-96F1DC0515BC}"/>
              </a:ext>
            </a:extLst>
          </p:cNvPr>
          <p:cNvGrpSpPr/>
          <p:nvPr/>
        </p:nvGrpSpPr>
        <p:grpSpPr>
          <a:xfrm>
            <a:off x="2955850" y="2855631"/>
            <a:ext cx="1860702" cy="1118752"/>
            <a:chOff x="2955850" y="2902286"/>
            <a:chExt cx="1860702" cy="111875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35BE9C-E4C1-41B7-ACD8-7ABEC8DF5F24}"/>
                </a:ext>
              </a:extLst>
            </p:cNvPr>
            <p:cNvSpPr txBox="1"/>
            <p:nvPr/>
          </p:nvSpPr>
          <p:spPr>
            <a:xfrm>
              <a:off x="3238428" y="2902286"/>
              <a:ext cx="129554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dirty="0">
                  <a:latin typeface="Arial Black" panose="020B0A04020102020204" pitchFamily="34" charset="0"/>
                </a:rPr>
                <a:t>FR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052DBB-CC72-4F59-92CE-00AB25EFF3F6}"/>
                </a:ext>
              </a:extLst>
            </p:cNvPr>
            <p:cNvSpPr txBox="1"/>
            <p:nvPr/>
          </p:nvSpPr>
          <p:spPr>
            <a:xfrm>
              <a:off x="2955850" y="3713261"/>
              <a:ext cx="18607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FABRIKAM RESIDENCES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291CA16A-993E-43BA-BDDC-9E427CF9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3315" y="1686971"/>
            <a:ext cx="3803806" cy="651277"/>
          </a:xfrm>
        </p:spPr>
        <p:txBody>
          <a:bodyPr/>
          <a:lstStyle/>
          <a:p>
            <a:r>
              <a:rPr lang="fa-IR" dirty="0" smtClean="0"/>
              <a:t>سیستم گزارشگری مالی</a:t>
            </a:r>
            <a:endParaRPr lang="en-US" b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63A021-7C19-4C85-B48B-EFEA732C1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3842" y="2468879"/>
            <a:ext cx="5198409" cy="352915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a-IR" dirty="0" smtClean="0"/>
              <a:t>رعایت تمام استاندارد های حسابداری علمی و دوطرفه </a:t>
            </a:r>
          </a:p>
          <a:p>
            <a:pPr marL="457200" indent="-457200">
              <a:buFont typeface="+mj-lt"/>
              <a:buAutoNum type="arabicPeriod"/>
            </a:pPr>
            <a:r>
              <a:rPr lang="fa-IR" dirty="0" smtClean="0"/>
              <a:t>چند سطحی</a:t>
            </a:r>
          </a:p>
          <a:p>
            <a:pPr marL="914400" lvl="1" indent="-457200">
              <a:buFont typeface="+mj-lt"/>
              <a:buAutoNum type="arabicPeriod"/>
            </a:pPr>
            <a:r>
              <a:rPr lang="fa-IR" dirty="0" smtClean="0"/>
              <a:t>گروه حساب</a:t>
            </a:r>
          </a:p>
          <a:p>
            <a:pPr marL="914400" lvl="1" indent="-457200">
              <a:buFont typeface="+mj-lt"/>
              <a:buAutoNum type="arabicPeriod"/>
            </a:pPr>
            <a:r>
              <a:rPr lang="fa-IR" dirty="0" smtClean="0"/>
              <a:t>کل</a:t>
            </a:r>
          </a:p>
          <a:p>
            <a:pPr marL="914400" lvl="1" indent="-457200">
              <a:buFont typeface="+mj-lt"/>
              <a:buAutoNum type="arabicPeriod"/>
            </a:pPr>
            <a:r>
              <a:rPr lang="fa-IR" dirty="0" smtClean="0"/>
              <a:t>معین</a:t>
            </a:r>
          </a:p>
          <a:p>
            <a:pPr marL="914400" lvl="1" indent="-457200">
              <a:buFont typeface="+mj-lt"/>
              <a:buAutoNum type="arabicPeriod"/>
            </a:pPr>
            <a:r>
              <a:rPr lang="fa-IR" dirty="0" smtClean="0"/>
              <a:t>تفضیلی</a:t>
            </a:r>
          </a:p>
          <a:p>
            <a:pPr marL="914400" lvl="1" indent="-457200">
              <a:buFont typeface="+mj-lt"/>
              <a:buAutoNum type="arabicPeriod"/>
            </a:pPr>
            <a:r>
              <a:rPr lang="fa-IR" dirty="0" smtClean="0"/>
              <a:t>رشته</a:t>
            </a:r>
          </a:p>
          <a:p>
            <a:pPr marL="914400" lvl="1" indent="-457200">
              <a:buFont typeface="+mj-lt"/>
              <a:buAutoNum type="arabicPeriod"/>
            </a:pPr>
            <a:r>
              <a:rPr lang="fa-IR" dirty="0" smtClean="0"/>
              <a:t>واحد صدور</a:t>
            </a:r>
          </a:p>
          <a:p>
            <a:pPr marL="914400" lvl="1" indent="-457200">
              <a:buFont typeface="+mj-lt"/>
              <a:buAutoNum type="arabicPeriod"/>
            </a:pPr>
            <a:r>
              <a:rPr lang="fa-IR" dirty="0" smtClean="0"/>
              <a:t>معرف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912" y="2222500"/>
            <a:ext cx="2184709" cy="234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6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30" y="783771"/>
            <a:ext cx="7368556" cy="1110343"/>
          </a:xfrm>
        </p:spPr>
        <p:txBody>
          <a:bodyPr/>
          <a:lstStyle/>
          <a:p>
            <a:r>
              <a:rPr lang="fa-IR" b="0" dirty="0" smtClean="0"/>
              <a:t>مشخصات کلی سیستم</a:t>
            </a:r>
            <a:endParaRPr lang="en-US" b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2168434"/>
            <a:ext cx="5294656" cy="4187916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fa-IR" dirty="0" smtClean="0"/>
              <a:t>سند و تراز افتتاحیه و اختتامیه</a:t>
            </a:r>
          </a:p>
          <a:p>
            <a:r>
              <a:rPr lang="fa-IR" dirty="0"/>
              <a:t>تعریف سال مالی </a:t>
            </a:r>
            <a:endParaRPr lang="en-US" dirty="0"/>
          </a:p>
          <a:p>
            <a:pPr lvl="0"/>
            <a:r>
              <a:rPr lang="fa-IR" dirty="0" smtClean="0"/>
              <a:t>تراز 4 ستونی کل و معین و تفضیلی و رشته</a:t>
            </a:r>
          </a:p>
          <a:p>
            <a:pPr lvl="0"/>
            <a:r>
              <a:rPr lang="fa-IR" dirty="0" smtClean="0"/>
              <a:t>تراز 8 ستونی کل و معین و تفضیلی واحد صدورو</a:t>
            </a:r>
          </a:p>
          <a:p>
            <a:pPr lvl="0"/>
            <a:r>
              <a:rPr lang="fa-IR" dirty="0" smtClean="0"/>
              <a:t>دفاتر در کلیه سطوح </a:t>
            </a:r>
          </a:p>
          <a:p>
            <a:pPr lvl="0"/>
            <a:r>
              <a:rPr lang="fa-IR" dirty="0" smtClean="0"/>
              <a:t>ریز اسناد با فیلتر روی تمامی سطوح و تاریخ</a:t>
            </a:r>
          </a:p>
          <a:p>
            <a:pPr lvl="0"/>
            <a:r>
              <a:rPr lang="fa-IR" dirty="0" smtClean="0"/>
              <a:t>امکان دیدن یک تراز برای یک و یا چند رشته خاص</a:t>
            </a:r>
          </a:p>
          <a:p>
            <a:pPr lvl="0"/>
            <a:r>
              <a:rPr lang="fa-IR" dirty="0" smtClean="0"/>
              <a:t>امکان دیدن یک گزارش برای یک و یا چند واحد صدور</a:t>
            </a:r>
          </a:p>
          <a:p>
            <a:pPr lvl="0"/>
            <a:r>
              <a:rPr lang="fa-IR" dirty="0" smtClean="0"/>
              <a:t>امکان حرکت بین سطوح مختلف گزارشات</a:t>
            </a:r>
          </a:p>
          <a:p>
            <a:pPr lvl="0"/>
            <a:r>
              <a:rPr lang="fa-IR" dirty="0" smtClean="0"/>
              <a:t>امکان رسیدن به بیمه نامه و اطلاعات بیمه ای با دابل کلیک به روی تراز ها</a:t>
            </a:r>
          </a:p>
          <a:p>
            <a:pPr lvl="0"/>
            <a:r>
              <a:rPr lang="fa-IR" dirty="0" smtClean="0"/>
              <a:t>امکان مقایسه و دیدن اختلاف ها بین گزارشات مالی و بیمه ای</a:t>
            </a:r>
            <a:endParaRPr lang="en-US" dirty="0"/>
          </a:p>
        </p:txBody>
      </p:sp>
      <p:pic>
        <p:nvPicPr>
          <p:cNvPr id="13" name="Picture Placeholder 12" title="Skyline">
            <a:extLst>
              <a:ext uri="{FF2B5EF4-FFF2-40B4-BE49-F238E27FC236}">
                <a16:creationId xmlns:a16="http://schemas.microsoft.com/office/drawing/2014/main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3313" r="23313"/>
          <a:stretch/>
        </p:blipFill>
        <p:spPr>
          <a:xfrm>
            <a:off x="6604000" y="0"/>
            <a:ext cx="5588000" cy="6872249"/>
          </a:xfr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00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3">
            <a:extLst>
              <a:ext uri="{FF2B5EF4-FFF2-40B4-BE49-F238E27FC236}">
                <a16:creationId xmlns:a16="http://schemas.microsoft.com/office/drawing/2014/main" id="{1ABD613F-111C-41D6-9F8E-8B2C42A5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84" y="1332650"/>
            <a:ext cx="4743762" cy="1163452"/>
          </a:xfrm>
        </p:spPr>
        <p:txBody>
          <a:bodyPr>
            <a:normAutofit fontScale="90000"/>
          </a:bodyPr>
          <a:lstStyle/>
          <a:p>
            <a:pPr algn="ctr"/>
            <a:r>
              <a:rPr lang="fa-IR" b="0" dirty="0" smtClean="0"/>
              <a:t>برتری این سیستم نسبت به سیستم های مالی موجود </a:t>
            </a:r>
            <a:endParaRPr lang="en-US" b="0" dirty="0"/>
          </a:p>
        </p:txBody>
      </p:sp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55EACD59-7C51-4810-94C6-BCB4D123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2625634"/>
            <a:ext cx="5638799" cy="3879669"/>
          </a:xfrm>
        </p:spPr>
        <p:txBody>
          <a:bodyPr>
            <a:normAutofit/>
          </a:bodyPr>
          <a:lstStyle/>
          <a:p>
            <a:pPr lvl="0"/>
            <a:r>
              <a:rPr lang="fa-IR" dirty="0" smtClean="0"/>
              <a:t>امکان تهیه گزارشات مالی در سطح تفضیلی </a:t>
            </a:r>
          </a:p>
          <a:p>
            <a:pPr lvl="0"/>
            <a:r>
              <a:rPr lang="fa-IR" dirty="0" smtClean="0"/>
              <a:t>نگاه بیمه ای به دیتای مالی </a:t>
            </a:r>
          </a:p>
          <a:p>
            <a:pPr lvl="0"/>
            <a:r>
              <a:rPr lang="fa-IR" dirty="0" smtClean="0"/>
              <a:t>استفاده از مراکز هزینه مانند واحد صدور , شعبه , رشته , معرف و تفضیلی بیمه گزار</a:t>
            </a:r>
          </a:p>
          <a:p>
            <a:pPr lvl="0"/>
            <a:r>
              <a:rPr lang="fa-IR" dirty="0" smtClean="0"/>
              <a:t>امکان گزارشات تسعیر ارز</a:t>
            </a:r>
            <a:endParaRPr lang="en-US" dirty="0"/>
          </a:p>
          <a:p>
            <a:pPr lvl="0"/>
            <a:r>
              <a:rPr lang="fa-IR" dirty="0" smtClean="0"/>
              <a:t>امکان مقایسه گزارشات مالی با سیستم کر فناوران</a:t>
            </a:r>
          </a:p>
          <a:p>
            <a:pPr lvl="0"/>
            <a:r>
              <a:rPr lang="fa-IR" dirty="0" smtClean="0"/>
              <a:t>امکان طراحی گزارشات مالی صنعت بیمه</a:t>
            </a:r>
          </a:p>
          <a:p>
            <a:pPr lvl="0"/>
            <a:r>
              <a:rPr lang="fa-IR" dirty="0" smtClean="0"/>
              <a:t>تهیه نسبت های مالی (آنهایی که مربوط به بیمه است)</a:t>
            </a:r>
            <a:endParaRPr lang="en-US" dirty="0"/>
          </a:p>
        </p:txBody>
      </p:sp>
      <p:pic>
        <p:nvPicPr>
          <p:cNvPr id="59" name="Picture Placeholder 58" title="Buildings">
            <a:extLst>
              <a:ext uri="{FF2B5EF4-FFF2-40B4-BE49-F238E27FC236}">
                <a16:creationId xmlns:a16="http://schemas.microsoft.com/office/drawing/2014/main" id="{3FCCC668-2247-4814-9CC5-9C5D4B447AA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3492" r="13492"/>
          <a:stretch>
            <a:fillRect/>
          </a:stretch>
        </p:blipFill>
        <p:spPr/>
      </p:pic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6390A22B-EC07-E942-A46F-F36FDD7FDB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67D224-5586-43DC-82CA-8605E15829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971" y="103443"/>
            <a:ext cx="954073" cy="102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6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0" dirty="0" smtClean="0"/>
              <a:t>ابزار کمکی برای حسابدار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0493" y="1376932"/>
            <a:ext cx="7421724" cy="909068"/>
          </a:xfrm>
        </p:spPr>
        <p:txBody>
          <a:bodyPr/>
          <a:lstStyle/>
          <a:p>
            <a:r>
              <a:rPr lang="fa-IR" dirty="0" smtClean="0"/>
              <a:t>با استفاده از این سیستم میشود هر آنچه که مدیران ارشد از سیستم مالی میخواهند را توسط حسابدار با چند جلسه آموزش تهیه کرد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4E18385-8BEA-4522-ABAA-5AB38F0D4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a-IR" dirty="0" smtClean="0"/>
              <a:t>فرم ساز پویا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DCFA8A2-3FB8-48CA-933D-0800A9D2A2A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>
              <a:buClr>
                <a:schemeClr val="accent2"/>
              </a:buClr>
            </a:pPr>
            <a:r>
              <a:rPr lang="fa-IR" dirty="0" smtClean="0"/>
              <a:t>با استفاده از این سیستم و بعد از آموزش به تیم مالی این امکان وجود دارد تا فرم های جدید به سیستم اضافه شود که مرتبط با جداول مالی و بیمه ای است</a:t>
            </a:r>
            <a:endParaRPr lang="en-US" dirty="0"/>
          </a:p>
          <a:p>
            <a:pPr lvl="1">
              <a:buClr>
                <a:schemeClr val="accent2"/>
              </a:buClr>
            </a:pPr>
            <a:r>
              <a:rPr lang="fa-IR" dirty="0" smtClean="0"/>
              <a:t>با توجه به حجم بالای دیتای حسابداری (سیصد میلیون رکورد) دیگر یاد داشتن اکسل جواب گوی گزارشات تحلیلی مدیران نیست و نیاز به ابزار جدیدی است که این نرم افزار مقدمات آن را فراهم کرده است و آینده روشنی در این خصوص دارد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40A3223-3DA3-4CF2-82B6-1447667547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a-IR" dirty="0" smtClean="0"/>
              <a:t>گزارش ساز پویا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955AFB3-173C-4848-B3E9-1375591B297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1">
              <a:buClr>
                <a:schemeClr val="accent2"/>
              </a:buClr>
            </a:pPr>
            <a:endParaRPr lang="fa-IR" dirty="0" smtClean="0"/>
          </a:p>
          <a:p>
            <a:pPr lvl="1">
              <a:buClr>
                <a:schemeClr val="accent2"/>
              </a:buClr>
            </a:pPr>
            <a:r>
              <a:rPr lang="fa-IR" dirty="0" smtClean="0"/>
              <a:t>امکان تهیه انواع گزارشات و ذخیره فرمت گزارشات در سیستم و استفاده مجدد آن </a:t>
            </a:r>
            <a:endParaRPr lang="en-US" dirty="0"/>
          </a:p>
          <a:p>
            <a:pPr lvl="1">
              <a:buClr>
                <a:schemeClr val="accent2"/>
              </a:buClr>
            </a:pPr>
            <a:r>
              <a:rPr lang="fa-IR" dirty="0" smtClean="0"/>
              <a:t>گزارشات استاندارد آماده و امکان تغییر آن و سفارشی سازی</a:t>
            </a:r>
          </a:p>
          <a:p>
            <a:pPr lvl="1">
              <a:buClr>
                <a:schemeClr val="accent2"/>
              </a:buClr>
            </a:pPr>
            <a:r>
              <a:rPr lang="fa-IR" dirty="0" smtClean="0"/>
              <a:t>امکان نوشتن انواع </a:t>
            </a:r>
            <a:r>
              <a:rPr lang="en-US" dirty="0" smtClean="0"/>
              <a:t>Query</a:t>
            </a:r>
            <a:r>
              <a:rPr lang="fa-IR" dirty="0" smtClean="0"/>
              <a:t> عای مالی و بیمه ای جدید و اضافه کردن به سیستم</a:t>
            </a:r>
          </a:p>
          <a:p>
            <a:pPr lvl="1">
              <a:buClr>
                <a:schemeClr val="accent2"/>
              </a:buClr>
            </a:pPr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n-US" dirty="0"/>
              <a:t>Add a footer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971" y="117588"/>
            <a:ext cx="899402" cy="96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1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3">
            <a:extLst>
              <a:ext uri="{FF2B5EF4-FFF2-40B4-BE49-F238E27FC236}">
                <a16:creationId xmlns:a16="http://schemas.microsoft.com/office/drawing/2014/main" id="{92896B42-4638-40D0-8887-7AB8D1D8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534572"/>
            <a:ext cx="6683980" cy="822425"/>
          </a:xfrm>
        </p:spPr>
        <p:txBody>
          <a:bodyPr/>
          <a:lstStyle/>
          <a:p>
            <a:pPr algn="r"/>
            <a:r>
              <a:rPr lang="fa-IR" dirty="0" smtClean="0"/>
              <a:t>امکانات جنبی</a:t>
            </a:r>
            <a:endParaRPr lang="en-US" b="0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CFD0302-279C-8A48-9E27-AD5B08D6501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1813" y="2005762"/>
            <a:ext cx="5714241" cy="4481218"/>
          </a:xfrm>
        </p:spPr>
        <p:txBody>
          <a:bodyPr/>
          <a:lstStyle/>
          <a:p>
            <a:pPr>
              <a:buClr>
                <a:schemeClr val="accent2"/>
              </a:buClr>
            </a:pPr>
            <a:r>
              <a:rPr lang="fa-IR" dirty="0" smtClean="0"/>
              <a:t>امکان انتقال اطلاعات به اکسل</a:t>
            </a:r>
            <a:endParaRPr lang="en-US" dirty="0"/>
          </a:p>
          <a:p>
            <a:pPr>
              <a:buClr>
                <a:schemeClr val="accent2"/>
              </a:buClr>
            </a:pPr>
            <a:r>
              <a:rPr lang="fa-IR" dirty="0" smtClean="0"/>
              <a:t>امکان دریافت اسناد مالی از اکسل و وب سرویس</a:t>
            </a:r>
          </a:p>
          <a:p>
            <a:pPr>
              <a:buClr>
                <a:schemeClr val="accent2"/>
              </a:buClr>
            </a:pPr>
            <a:r>
              <a:rPr lang="fa-IR" dirty="0" smtClean="0"/>
              <a:t>امکان توسعه سیستم در کمترین زمان</a:t>
            </a:r>
          </a:p>
          <a:p>
            <a:pPr>
              <a:buClr>
                <a:schemeClr val="accent2"/>
              </a:buClr>
            </a:pPr>
            <a:r>
              <a:rPr lang="fa-IR" dirty="0" smtClean="0"/>
              <a:t>امکان فیلتر بر اساس تمامی ستونهای اطلاعات</a:t>
            </a:r>
          </a:p>
          <a:p>
            <a:pPr>
              <a:buClr>
                <a:schemeClr val="accent2"/>
              </a:buClr>
            </a:pPr>
            <a:r>
              <a:rPr lang="fa-IR" dirty="0" smtClean="0"/>
              <a:t>سرعت بسیار بالا در گزارشات (یک دقیقه برای تراز کل سالیانه)</a:t>
            </a:r>
          </a:p>
          <a:p>
            <a:pPr>
              <a:buClr>
                <a:schemeClr val="accent2"/>
              </a:buClr>
            </a:pPr>
            <a:r>
              <a:rPr lang="fa-IR" dirty="0" smtClean="0"/>
              <a:t>امکان تغییرات سفارشی در نحوه ثبت اسناد در زمان </a:t>
            </a:r>
            <a:r>
              <a:rPr lang="en-US" dirty="0" smtClean="0"/>
              <a:t>ETL</a:t>
            </a:r>
            <a:r>
              <a:rPr lang="fa-IR" dirty="0" smtClean="0"/>
              <a:t> به عنوان مثال میتوان برای شرکتها نحوه ثبت سطح تفضیلی 2 خاص دیدگاه مدیریت ایجاد کرد مثلا تفضیلی بیمه گزار باشد و تفضیلی 2 بیمه شده باشد</a:t>
            </a:r>
          </a:p>
          <a:p>
            <a:pPr>
              <a:buClr>
                <a:schemeClr val="accent2"/>
              </a:buClr>
            </a:pPr>
            <a:endParaRPr lang="fa-IR" dirty="0" smtClean="0"/>
          </a:p>
        </p:txBody>
      </p:sp>
      <p:graphicFrame>
        <p:nvGraphicFramePr>
          <p:cNvPr id="34" name="Chart Placeholder 24" descr="Cylindrical chart">
            <a:extLst>
              <a:ext uri="{FF2B5EF4-FFF2-40B4-BE49-F238E27FC236}">
                <a16:creationId xmlns:a16="http://schemas.microsoft.com/office/drawing/2014/main" id="{71FC94C7-3179-A442-AB05-74D7AFF60709}"/>
              </a:ext>
            </a:extLst>
          </p:cNvPr>
          <p:cNvGraphicFramePr>
            <a:graphicFrameLocks noGrp="1"/>
          </p:cNvGraphicFramePr>
          <p:nvPr>
            <p:ph type="chart" sz="quarter" idx="10"/>
            <p:extLst>
              <p:ext uri="{D42A27DB-BD31-4B8C-83A1-F6EECF244321}">
                <p14:modId xmlns:p14="http://schemas.microsoft.com/office/powerpoint/2010/main" val="2986632712"/>
              </p:ext>
            </p:extLst>
          </p:nvPr>
        </p:nvGraphicFramePr>
        <p:xfrm>
          <a:off x="5049147" y="1340797"/>
          <a:ext cx="7106973" cy="4657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C11C9-3DF6-471E-87C0-4DCED41031D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971" y="46538"/>
            <a:ext cx="749784" cy="80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6205679" cy="803846"/>
          </a:xfrm>
        </p:spPr>
        <p:txBody>
          <a:bodyPr/>
          <a:lstStyle/>
          <a:p>
            <a:pPr algn="r"/>
            <a:r>
              <a:rPr lang="fa-IR" dirty="0" smtClean="0"/>
              <a:t>ذخایر حق بیمه</a:t>
            </a:r>
            <a:endParaRPr lang="en-US" b="0" dirty="0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0493" y="964230"/>
            <a:ext cx="7413686" cy="754552"/>
          </a:xfrm>
        </p:spPr>
        <p:txBody>
          <a:bodyPr/>
          <a:lstStyle/>
          <a:p>
            <a:r>
              <a:rPr lang="fa-IR" dirty="0" smtClean="0"/>
              <a:t>در گزارش زیر ذخایر حق بیمه به دو روش روزانه و فصلی کنار هم محاسبه شده اند</a:t>
            </a:r>
            <a:endParaRPr lang="en-US" dirty="0"/>
          </a:p>
        </p:txBody>
      </p:sp>
      <p:graphicFrame>
        <p:nvGraphicFramePr>
          <p:cNvPr id="19" name="Table Placeholder 10">
            <a:extLst>
              <a:ext uri="{FF2B5EF4-FFF2-40B4-BE49-F238E27FC236}">
                <a16:creationId xmlns:a16="http://schemas.microsoft.com/office/drawing/2014/main" id="{FA7555E4-6CFC-1C44-B97A-BFEC35A63419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935996613"/>
              </p:ext>
            </p:extLst>
          </p:nvPr>
        </p:nvGraphicFramePr>
        <p:xfrm>
          <a:off x="609600" y="1949135"/>
          <a:ext cx="10658624" cy="417686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31409">
                  <a:extLst>
                    <a:ext uri="{9D8B030D-6E8A-4147-A177-3AD203B41FA5}">
                      <a16:colId xmlns:a16="http://schemas.microsoft.com/office/drawing/2014/main" val="4235906612"/>
                    </a:ext>
                  </a:extLst>
                </a:gridCol>
                <a:gridCol w="2841674">
                  <a:extLst>
                    <a:ext uri="{9D8B030D-6E8A-4147-A177-3AD203B41FA5}">
                      <a16:colId xmlns:a16="http://schemas.microsoft.com/office/drawing/2014/main" val="33272134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519545142"/>
                    </a:ext>
                  </a:extLst>
                </a:gridCol>
                <a:gridCol w="1533379">
                  <a:extLst>
                    <a:ext uri="{9D8B030D-6E8A-4147-A177-3AD203B41FA5}">
                      <a16:colId xmlns:a16="http://schemas.microsoft.com/office/drawing/2014/main" val="1329765366"/>
                    </a:ext>
                  </a:extLst>
                </a:gridCol>
                <a:gridCol w="1758461">
                  <a:extLst>
                    <a:ext uri="{9D8B030D-6E8A-4147-A177-3AD203B41FA5}">
                      <a16:colId xmlns:a16="http://schemas.microsoft.com/office/drawing/2014/main" val="284311610"/>
                    </a:ext>
                  </a:extLst>
                </a:gridCol>
                <a:gridCol w="1589649">
                  <a:extLst>
                    <a:ext uri="{9D8B030D-6E8A-4147-A177-3AD203B41FA5}">
                      <a16:colId xmlns:a16="http://schemas.microsoft.com/office/drawing/2014/main" val="1235871454"/>
                    </a:ext>
                  </a:extLst>
                </a:gridCol>
                <a:gridCol w="815926">
                  <a:extLst>
                    <a:ext uri="{9D8B030D-6E8A-4147-A177-3AD203B41FA5}">
                      <a16:colId xmlns:a16="http://schemas.microsoft.com/office/drawing/2014/main" val="2126728798"/>
                    </a:ext>
                  </a:extLst>
                </a:gridCol>
                <a:gridCol w="956606">
                  <a:extLst>
                    <a:ext uri="{9D8B030D-6E8A-4147-A177-3AD203B41FA5}">
                      <a16:colId xmlns:a16="http://schemas.microsoft.com/office/drawing/2014/main" val="2084617311"/>
                    </a:ext>
                  </a:extLst>
                </a:gridCol>
              </a:tblGrid>
              <a:tr h="415624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u="none" strike="noStrike" dirty="0">
                          <a:effectLst/>
                        </a:rPr>
                        <a:t> رشته </a:t>
                      </a:r>
                      <a:endParaRPr lang="fa-IR" sz="1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fa-IR" sz="1400" u="none" strike="noStrike" dirty="0" smtClean="0">
                          <a:effectLst/>
                        </a:rPr>
                        <a:t>نام رشته</a:t>
                      </a:r>
                      <a:endParaRPr lang="en-US" sz="1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u="none" strike="noStrike">
                          <a:effectLst/>
                        </a:rPr>
                        <a:t> تعداد </a:t>
                      </a:r>
                      <a:endParaRPr lang="fa-IR" sz="1400" b="1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u="none" strike="noStrike">
                          <a:effectLst/>
                        </a:rPr>
                        <a:t> حق بیمه </a:t>
                      </a:r>
                      <a:endParaRPr lang="fa-IR" sz="1400" b="1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u="none" strike="noStrike">
                          <a:effectLst/>
                        </a:rPr>
                        <a:t> ذخایر روزانه </a:t>
                      </a:r>
                      <a:endParaRPr lang="fa-IR" sz="1400" b="1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u="none" strike="noStrike">
                          <a:effectLst/>
                        </a:rPr>
                        <a:t> ذخایر فصلی </a:t>
                      </a:r>
                      <a:endParaRPr lang="fa-IR" sz="1400" b="1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u="none" strike="noStrike">
                          <a:effectLst/>
                        </a:rPr>
                        <a:t> نسبت روزانه </a:t>
                      </a:r>
                      <a:endParaRPr lang="fa-IR" sz="1400" b="1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u="none" strike="noStrike" dirty="0">
                          <a:effectLst/>
                        </a:rPr>
                        <a:t> نسبت فصلی </a:t>
                      </a:r>
                      <a:endParaRPr lang="fa-IR" sz="1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15579220"/>
                  </a:ext>
                </a:extLst>
              </a:tr>
              <a:tr h="415624"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      5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200" u="none" strike="noStrike">
                          <a:effectLst/>
                        </a:rPr>
                        <a:t> اتومبيل - شخص ثالث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581,399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 3,148,851,934,589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1,832,989,371,068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1,781,770,095,381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58/21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56/58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85786242"/>
                  </a:ext>
                </a:extLst>
              </a:tr>
              <a:tr h="415624"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 170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200" u="none" strike="noStrike" dirty="0">
                          <a:effectLst/>
                        </a:rPr>
                        <a:t> آتش سوزي - صنعتي ، غير صنعتي و انبارها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1,363,090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 2,270,533,078,098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1,451,893,563,488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1,301,741,354,451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63/95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57/33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3278988"/>
                  </a:ext>
                </a:extLst>
              </a:tr>
              <a:tr h="415624"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    21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200" u="none" strike="noStrike">
                          <a:effectLst/>
                        </a:rPr>
                        <a:t> درمان گروهي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   2,357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 1,690,739,352,376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802,524,240,075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875,351,368,540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47/47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51/77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472537"/>
                  </a:ext>
                </a:extLst>
              </a:tr>
              <a:tr h="415624"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      4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200" u="none" strike="noStrike">
                          <a:effectLst/>
                        </a:rPr>
                        <a:t> اتومبيل- بدنه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45,824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     961,907,110,850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503,807,438,849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552,784,536,163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52/38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57/47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1583959"/>
                  </a:ext>
                </a:extLst>
              </a:tr>
              <a:tr h="415624"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 101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200" u="none" strike="noStrike">
                          <a:effectLst/>
                        </a:rPr>
                        <a:t> مسئوليت مدني کارفرمايان واحدهاي صنعتي ،توليدي و خدماتي در مقابل کارکنان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13,714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     281,872,677,439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129,231,764,347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140,373,481,901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45/85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49/80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1153916"/>
                  </a:ext>
                </a:extLst>
              </a:tr>
              <a:tr h="415624"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 253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200" u="none" strike="noStrike">
                          <a:effectLst/>
                        </a:rPr>
                        <a:t> نفت، گاز و پتروشيمي (ساحلي در حال بهره برداري)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         22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     206,863,074,487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106,947,944,313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117,095,235,511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51/70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56/61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16563405"/>
                  </a:ext>
                </a:extLst>
              </a:tr>
              <a:tr h="415624"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 255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200" u="none" strike="noStrike">
                          <a:effectLst/>
                        </a:rPr>
                        <a:t> نفت، گاز و پتروشيمي (فراساحلي در حال بهره برداري)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         10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     185,604,143,007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52,488,877,929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125,236,430,253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28/28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67/48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7125693"/>
                  </a:ext>
                </a:extLst>
              </a:tr>
              <a:tr h="415624"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    10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200" u="none" strike="noStrike">
                          <a:effectLst/>
                        </a:rPr>
                        <a:t> مسئوليت مدني سازندگان ابنيه در مقابل کارکنان ساختماني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12,012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     154,442,911,671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69,277,341,804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   76,483,080,125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>
                          <a:effectLst/>
                        </a:rPr>
                        <a:t>      44/86  </a:t>
                      </a:r>
                      <a:endParaRPr lang="fa-IR" sz="1200" b="1" i="0" u="none" strike="noStrike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49/52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5032543"/>
                  </a:ext>
                </a:extLst>
              </a:tr>
              <a:tr h="415624"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    15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200" u="none" strike="noStrike" dirty="0">
                          <a:effectLst/>
                        </a:rPr>
                        <a:t> مسئوليت مدني (ساير)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24,121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     110,051,152,264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54,282,337,370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   56,700,188,808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49/32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a-IR" sz="1200" u="none" strike="noStrike" dirty="0">
                          <a:effectLst/>
                        </a:rPr>
                        <a:t>      51/52  </a:t>
                      </a:r>
                      <a:endParaRPr lang="fa-IR" sz="1200" b="1" i="0" u="none" strike="noStrike" dirty="0">
                        <a:solidFill>
                          <a:srgbClr val="01406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488127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64F18-9B71-4D59-80A4-C9436CB2F47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70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title="Skyline">
            <a:extLst>
              <a:ext uri="{FF2B5EF4-FFF2-40B4-BE49-F238E27FC236}">
                <a16:creationId xmlns:a16="http://schemas.microsoft.com/office/drawing/2014/main" id="{6B070BD8-8610-4F64-A93A-41F46C39ECA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9408" b="9408"/>
          <a:stretch>
            <a:fillRect/>
          </a:stretch>
        </p:blipFill>
        <p:spPr/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69D4BCF2-C773-495F-A4D5-860FB6A2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177" y="558802"/>
            <a:ext cx="5182939" cy="939798"/>
          </a:xfrm>
        </p:spPr>
        <p:txBody>
          <a:bodyPr/>
          <a:lstStyle/>
          <a:p>
            <a:pPr algn="r"/>
            <a:r>
              <a:rPr lang="en-US" dirty="0" smtClean="0"/>
              <a:t>IFRS , </a:t>
            </a:r>
            <a:r>
              <a:rPr lang="fa-IR" dirty="0" smtClean="0"/>
              <a:t>گزارشات تعهدی</a:t>
            </a:r>
            <a:endParaRPr lang="en-US" b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79177" y="1730832"/>
            <a:ext cx="5182938" cy="203132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/>
            <a:r>
              <a:rPr lang="fa-IR" dirty="0">
                <a:solidFill>
                  <a:schemeClr val="bg1"/>
                </a:solidFill>
              </a:rPr>
              <a:t>ایجاد زیر ساخت برای دو مدل گزارش یکی بر پایه استاندارد های ایران و دیگری بر اساس استاندارد های </a:t>
            </a:r>
            <a:r>
              <a:rPr lang="en-US" dirty="0" smtClean="0">
                <a:solidFill>
                  <a:schemeClr val="bg1"/>
                </a:solidFill>
              </a:rPr>
              <a:t>IFRS</a:t>
            </a:r>
          </a:p>
          <a:p>
            <a:pPr algn="r"/>
            <a:r>
              <a:rPr lang="fa-IR" dirty="0" smtClean="0">
                <a:solidFill>
                  <a:schemeClr val="bg1"/>
                </a:solidFill>
              </a:rPr>
              <a:t>ایجاد گزارش هایی برای کنترل خزانه و نقد و بانک</a:t>
            </a:r>
            <a:endParaRPr lang="en-US" dirty="0" smtClean="0">
              <a:solidFill>
                <a:schemeClr val="bg1"/>
              </a:solidFill>
            </a:endParaRPr>
          </a:p>
          <a:p>
            <a:pPr algn="r"/>
            <a:r>
              <a:rPr lang="fa-IR" dirty="0" smtClean="0">
                <a:solidFill>
                  <a:schemeClr val="bg1"/>
                </a:solidFill>
              </a:rPr>
              <a:t>ایجاد گزارشهایی برای حذف تورم و تراز ها و رسیدن به ارزش </a:t>
            </a:r>
            <a:r>
              <a:rPr lang="fa-IR" dirty="0" smtClean="0">
                <a:solidFill>
                  <a:schemeClr val="bg1"/>
                </a:solidFill>
              </a:rPr>
              <a:t>منصفانه</a:t>
            </a:r>
            <a:endParaRPr lang="fa-IR" dirty="0" smtClean="0">
              <a:solidFill>
                <a:schemeClr val="bg1"/>
              </a:solidFill>
            </a:endParaRPr>
          </a:p>
          <a:p>
            <a:pPr algn="r"/>
            <a:endParaRPr lang="en-US" dirty="0" smtClean="0">
              <a:solidFill>
                <a:schemeClr val="bg1"/>
              </a:solidFill>
            </a:endParaRPr>
          </a:p>
          <a:p>
            <a:pPr algn="r"/>
            <a:endParaRPr lang="fa-I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22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75721" y="2006084"/>
            <a:ext cx="4853832" cy="619550"/>
          </a:xfrm>
        </p:spPr>
        <p:txBody>
          <a:bodyPr>
            <a:normAutofit fontScale="90000"/>
          </a:bodyPr>
          <a:lstStyle/>
          <a:p>
            <a:pPr algn="r"/>
            <a:r>
              <a:rPr lang="fa-IR" dirty="0" smtClean="0"/>
              <a:t>دورنمای آینده</a:t>
            </a:r>
            <a:endParaRPr lang="fa-I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10297" y="2769326"/>
            <a:ext cx="7485017" cy="3631474"/>
          </a:xfrm>
        </p:spPr>
        <p:txBody>
          <a:bodyPr/>
          <a:lstStyle/>
          <a:p>
            <a:pPr algn="r"/>
            <a:endParaRPr lang="en-US" dirty="0"/>
          </a:p>
          <a:p>
            <a:pPr algn="r"/>
            <a:r>
              <a:rPr lang="fa-IR" dirty="0"/>
              <a:t>نسبتها و شاخصهای مالی</a:t>
            </a:r>
          </a:p>
          <a:p>
            <a:pPr algn="r"/>
            <a:r>
              <a:rPr lang="fa-IR" dirty="0"/>
              <a:t>توانگری مالی</a:t>
            </a:r>
            <a:endParaRPr lang="en-US" dirty="0"/>
          </a:p>
          <a:p>
            <a:pPr algn="r"/>
            <a:r>
              <a:rPr lang="fa-IR" dirty="0"/>
              <a:t>گزارش بر اساس نرخ ثابت و حذف تورم</a:t>
            </a:r>
          </a:p>
          <a:p>
            <a:pPr algn="r"/>
            <a:r>
              <a:rPr lang="fa-IR" dirty="0"/>
              <a:t>گزارشهای خاص</a:t>
            </a:r>
          </a:p>
          <a:p>
            <a:pPr algn="r"/>
            <a:r>
              <a:rPr lang="fa-IR" dirty="0"/>
              <a:t>ایجاد زبان گزارش گری  خاص صنعت بیمه</a:t>
            </a:r>
          </a:p>
        </p:txBody>
      </p:sp>
    </p:spTree>
    <p:extLst>
      <p:ext uri="{BB962C8B-B14F-4D97-AF65-F5344CB8AC3E}">
        <p14:creationId xmlns:p14="http://schemas.microsoft.com/office/powerpoint/2010/main" val="226857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4026" y="1987421"/>
            <a:ext cx="5371450" cy="769848"/>
          </a:xfrm>
        </p:spPr>
        <p:txBody>
          <a:bodyPr/>
          <a:lstStyle/>
          <a:p>
            <a:r>
              <a:rPr lang="fa-IR" dirty="0" smtClean="0"/>
              <a:t>کارهای انجام شده برای بیمه ما</a:t>
            </a:r>
            <a:endParaRPr lang="fa-IR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734065"/>
              </p:ext>
            </p:extLst>
          </p:nvPr>
        </p:nvGraphicFramePr>
        <p:xfrm>
          <a:off x="3905249" y="2912013"/>
          <a:ext cx="7644326" cy="2872878"/>
        </p:xfrm>
        <a:graphic>
          <a:graphicData uri="http://schemas.openxmlformats.org/drawingml/2006/table">
            <a:tbl>
              <a:tblPr/>
              <a:tblGrid>
                <a:gridCol w="4874643">
                  <a:extLst>
                    <a:ext uri="{9D8B030D-6E8A-4147-A177-3AD203B41FA5}">
                      <a16:colId xmlns:a16="http://schemas.microsoft.com/office/drawing/2014/main" val="2311083398"/>
                    </a:ext>
                  </a:extLst>
                </a:gridCol>
                <a:gridCol w="1706125">
                  <a:extLst>
                    <a:ext uri="{9D8B030D-6E8A-4147-A177-3AD203B41FA5}">
                      <a16:colId xmlns:a16="http://schemas.microsoft.com/office/drawing/2014/main" val="4053532175"/>
                    </a:ext>
                  </a:extLst>
                </a:gridCol>
                <a:gridCol w="1063558">
                  <a:extLst>
                    <a:ext uri="{9D8B030D-6E8A-4147-A177-3AD203B41FA5}">
                      <a16:colId xmlns:a16="http://schemas.microsoft.com/office/drawing/2014/main" val="2670316964"/>
                    </a:ext>
                  </a:extLst>
                </a:gridCol>
              </a:tblGrid>
              <a:tr h="257053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عنوان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تاریخ شروع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تاریخ پایان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81465"/>
                  </a:ext>
                </a:extLst>
              </a:tr>
              <a:tr h="337472"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پیاده سازی و راه اندازی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ETL </a:t>
                      </a:r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فول بر روی سرور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 </a:t>
                      </a:r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بیمه ما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1400/05/25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1400/06/10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986162"/>
                  </a:ext>
                </a:extLst>
              </a:tr>
              <a:tr h="337472"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پیاده سازی و راه اندازی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ETL </a:t>
                      </a:r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افزایشی بر روی سرور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 </a:t>
                      </a:r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بیمه ما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1400/06/06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1400/06/15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37665"/>
                  </a:ext>
                </a:extLst>
              </a:tr>
              <a:tr h="337472"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راه اندازی سرور جدید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1400/06/14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1400/06/20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486637"/>
                  </a:ext>
                </a:extLst>
              </a:tr>
              <a:tr h="337472"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تقویت سرور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1400/06/20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1400/06/31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750507"/>
                  </a:ext>
                </a:extLst>
              </a:tr>
              <a:tr h="504442"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نصب برنامه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1400/07/14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1400/07/24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421236"/>
                  </a:ext>
                </a:extLst>
              </a:tr>
              <a:tr h="257053"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برگزاری جلسات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ده جلسه حضوری و آنلاین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006025"/>
                  </a:ext>
                </a:extLst>
              </a:tr>
              <a:tr h="504442"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تهیه کلیپ های آموزشی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fa-I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تقریبا ده ساعت کلیپ آموزشی تهیه شده است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515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383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6" title="Building image">
            <a:extLst>
              <a:ext uri="{FF2B5EF4-FFF2-40B4-BE49-F238E27FC236}">
                <a16:creationId xmlns:a16="http://schemas.microsoft.com/office/drawing/2014/main" id="{BA026684-ED32-4C82-8EFB-03E9E047EA33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0743" r="20743"/>
          <a:stretch>
            <a:fillRect/>
          </a:stretch>
        </p:blipFill>
        <p:spPr/>
      </p:pic>
      <p:sp>
        <p:nvSpPr>
          <p:cNvPr id="19" name="Hexagon 18">
            <a:extLst>
              <a:ext uri="{FF2B5EF4-FFF2-40B4-BE49-F238E27FC236}">
                <a16:creationId xmlns:a16="http://schemas.microsoft.com/office/drawing/2014/main" id="{7CE8B54A-D8B2-498F-ACFB-31AC2DEB83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6200000">
            <a:off x="2679702" y="2388914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B6C5EAB-81FF-4827-A160-22F4363C6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fa-IR" dirty="0" smtClean="0"/>
              <a:t>با تشکر</a:t>
            </a:r>
            <a:endParaRPr lang="en-US" b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6611344-9447-438E-873C-299AF4110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a-IR" dirty="0" smtClean="0"/>
              <a:t>رضا اسعدی – جواد عادل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A3FB895-3D21-4707-8EDE-3F825906DE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22929" y="3749163"/>
            <a:ext cx="3319878" cy="378288"/>
          </a:xfrm>
        </p:spPr>
        <p:txBody>
          <a:bodyPr/>
          <a:lstStyle/>
          <a:p>
            <a:r>
              <a:rPr lang="fa-IR" dirty="0" smtClean="0"/>
              <a:t>02141855000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0B41C33-430D-4B31-A546-F856469194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smtClean="0"/>
              <a:t>j.adel@iraneit.com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62065D0-127B-4884-9760-D1FFEC38A6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 smtClean="0"/>
              <a:t>www.iraneit.com</a:t>
            </a:r>
            <a:endParaRPr lang="en-US" dirty="0"/>
          </a:p>
        </p:txBody>
      </p:sp>
      <p:pic>
        <p:nvPicPr>
          <p:cNvPr id="102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2291"/>
            <a:ext cx="198901" cy="18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1059"/>
            <a:ext cx="185641" cy="18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 flipV="1">
            <a:off x="-1" y="-1"/>
            <a:ext cx="1697287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a-IR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 flipV="1">
            <a:off x="-1" y="40793"/>
            <a:ext cx="1697287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Lato"/>
                <a:ea typeface="Times New Roman" panose="02020603050405020304" pitchFamily="18" charset="0"/>
                <a:cs typeface="Calibri" panose="020F0502020204030204" pitchFamily="34" charset="0"/>
              </a:rPr>
              <a:t>021-41855000</a:t>
            </a: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 </a:t>
            </a:r>
            <a:endParaRPr kumimoji="0" lang="en-US" altLang="fa-I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 flipV="1">
            <a:off x="-1" y="158754"/>
            <a:ext cx="1697287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Lato"/>
                <a:ea typeface="Times New Roman" panose="02020603050405020304" pitchFamily="18" charset="0"/>
                <a:cs typeface="Calibri" panose="020F0502020204030204" pitchFamily="34" charset="0"/>
              </a:rPr>
              <a:t>021-41855000-9</a:t>
            </a: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kumimoji="0" lang="en-US" altLang="fa-I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fa-I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875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350"/>
            <a:ext cx="133350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a-IR"/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133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Lato" charset="0"/>
                <a:ea typeface="Times New Roman" panose="02020603050405020304" pitchFamily="18" charset="0"/>
                <a:cs typeface="Calibri" panose="020F0502020204030204" pitchFamily="34" charset="0"/>
              </a:rPr>
              <a:t>021-41855000</a:t>
            </a: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 </a:t>
            </a:r>
            <a:endParaRPr kumimoji="0" lang="en-US" altLang="fa-I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0" y="266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Lato" charset="0"/>
                <a:ea typeface="Times New Roman" panose="02020603050405020304" pitchFamily="18" charset="0"/>
                <a:cs typeface="Calibri" panose="020F0502020204030204" pitchFamily="34" charset="0"/>
              </a:rPr>
              <a:t>021-41855000-9</a:t>
            </a:r>
            <a:r>
              <a:rPr kumimoji="0" lang="en-US" altLang="fa-I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kumimoji="0" lang="en-US" altLang="fa-I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fa-I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2767" y="2943997"/>
            <a:ext cx="749784" cy="80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5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3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027928_Hexagon presentation dark_AAS_v4" id="{00715B48-F6B0-4FD0-BA2D-34714F23D55A}" vid="{445656DE-313E-4A78-B834-A775A8573B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B759597-1FA4-4F46-9BA8-01240C5602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C3589D-EF2D-4AF3-8B55-088F4B14D6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0343A-75DB-4E03-95EA-4A75BA0D7FF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0</TotalTime>
  <Words>868</Words>
  <Application>Microsoft Office PowerPoint</Application>
  <PresentationFormat>Widescreen</PresentationFormat>
  <Paragraphs>189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CiscoSans ExtraLight</vt:lpstr>
      <vt:lpstr>Gill Sans SemiBold</vt:lpstr>
      <vt:lpstr>Lato</vt:lpstr>
      <vt:lpstr>Times New Roman</vt:lpstr>
      <vt:lpstr>Office Theme</vt:lpstr>
      <vt:lpstr>سیستم گزارشگری مالی</vt:lpstr>
      <vt:lpstr>سیستم گزارشگری مالی</vt:lpstr>
      <vt:lpstr>مشخصات کلی سیستم</vt:lpstr>
      <vt:lpstr>برتری این سیستم نسبت به سیستم های مالی موجود </vt:lpstr>
      <vt:lpstr>ابزار کمکی برای حسابدار</vt:lpstr>
      <vt:lpstr>امکانات جنبی</vt:lpstr>
      <vt:lpstr>ذخایر حق بیمه</vt:lpstr>
      <vt:lpstr>IFRS , گزارشات تعهدی</vt:lpstr>
      <vt:lpstr>دورنمای آینده</vt:lpstr>
      <vt:lpstr>کارهای انجام شده برای بیمه ما</vt:lpstr>
      <vt:lpstr>با تشکر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2022-02-26T08:41:54Z</dcterms:created>
  <dcterms:modified xsi:type="dcterms:W3CDTF">2022-03-08T08:31:14Z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